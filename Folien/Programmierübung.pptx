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92" r:id="rId5"/>
    <p:sldId id="532" r:id="rId6"/>
    <p:sldId id="529" r:id="rId7"/>
    <p:sldId id="258" r:id="rId8"/>
    <p:sldId id="530" r:id="rId9"/>
    <p:sldId id="277" r:id="rId10"/>
    <p:sldId id="273" r:id="rId11"/>
    <p:sldId id="272" r:id="rId12"/>
    <p:sldId id="275" r:id="rId13"/>
    <p:sldId id="531" r:id="rId14"/>
    <p:sldId id="276" r:id="rId15"/>
    <p:sldId id="260" r:id="rId16"/>
    <p:sldId id="563" r:id="rId17"/>
    <p:sldId id="574" r:id="rId18"/>
    <p:sldId id="5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tgesell, Patrick" initials="GP" lastIdx="1" clrIdx="0">
    <p:extLst>
      <p:ext uri="{19B8F6BF-5375-455C-9EA6-DF929625EA0E}">
        <p15:presenceInfo xmlns:p15="http://schemas.microsoft.com/office/powerpoint/2012/main" userId="S::patrick.gutgesell@sap.com::17b1b580-2667-4c30-9feb-0a42eb34d9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84086" autoAdjust="0"/>
  </p:normalViewPr>
  <p:slideViewPr>
    <p:cSldViewPr snapToGrid="0">
      <p:cViewPr varScale="1">
        <p:scale>
          <a:sx n="88" d="100"/>
          <a:sy n="88" d="100"/>
        </p:scale>
        <p:origin x="102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5CE20-60A5-4843-988F-DEBE779DF85B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1FE88-078D-4DF0-BFA6-094B223ED3B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76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359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774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9532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 few clicks you can get a default project setup from a certain archetype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0515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 few clicks you can get a default project setup from a certain archetype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6776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2194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5334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1FE88-078D-4DF0-BFA6-094B223ED3B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447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82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4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52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2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1651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357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794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193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16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13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F88683B-6134-4623-88D6-25C7A7F1874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838199" y="365125"/>
            <a:ext cx="10515599" cy="597127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80F42-0C79-43F9-AEEB-7185C48C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3D7091-6A51-41C5-960E-39C94CB1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06EC1-7ABF-4E7F-85C3-25A43FD4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853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8" y="1620000"/>
            <a:ext cx="11183565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804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EAED5-0987-42D5-BE03-369C28CA6CCA}" type="datetimeFigureOut">
              <a:rPr lang="de-DE" smtClean="0"/>
              <a:t>16.03.2026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41098-44F5-46E0-9D65-DB452BEAD0D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507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rickATdIT/atdit_2026_exerci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rickATdIT/AmazingWeatherSentinel/blob/master/doc/script.md" TargetMode="External"/><Relationship Id="rId2" Type="http://schemas.openxmlformats.org/officeDocument/2006/relationships/hyperlink" Target="https://github.com/PatrickATdIT/AmazingWeatherSentine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4CC8-BA10-4FED-83FF-160B0CFED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noProof="0"/>
              <a:t>Ausgewählte </a:t>
            </a:r>
            <a:r>
              <a:rPr lang="de-DE" noProof="0" dirty="0"/>
              <a:t>Themen der IT</a:t>
            </a:r>
          </a:p>
        </p:txBody>
      </p:sp>
    </p:spTree>
    <p:extLst>
      <p:ext uri="{BB962C8B-B14F-4D97-AF65-F5344CB8AC3E}">
        <p14:creationId xmlns:p14="http://schemas.microsoft.com/office/powerpoint/2010/main" val="11377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E401B2-47C3-B4A3-A6B3-5A372451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Maven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6378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C96EF-82FF-4433-4923-83668077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 err="1"/>
              <a:t>Build</a:t>
            </a:r>
            <a:r>
              <a:rPr lang="de-DE" noProof="0" dirty="0"/>
              <a:t>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BD7DB-9E7B-C668-D42B-481EE5B3C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noProof="0" dirty="0"/>
              <a:t>Automatisierung des gesamten </a:t>
            </a:r>
            <a:r>
              <a:rPr lang="de-DE" noProof="0" dirty="0" err="1"/>
              <a:t>Build</a:t>
            </a:r>
            <a:r>
              <a:rPr lang="de-DE" noProof="0" dirty="0"/>
              <a:t>-Prozesses, z.B.</a:t>
            </a:r>
          </a:p>
          <a:p>
            <a:pPr lvl="1"/>
            <a:r>
              <a:rPr lang="de-DE" noProof="0" dirty="0"/>
              <a:t>Kompilierung</a:t>
            </a:r>
          </a:p>
          <a:p>
            <a:pPr lvl="2"/>
            <a:r>
              <a:rPr lang="de-DE" noProof="0" dirty="0"/>
              <a:t>Einbinden von externen Bibliotheken (</a:t>
            </a:r>
            <a:r>
              <a:rPr lang="de-DE" noProof="0" dirty="0" err="1"/>
              <a:t>Dependency</a:t>
            </a:r>
            <a:r>
              <a:rPr lang="de-DE" noProof="0" dirty="0"/>
              <a:t> Management)</a:t>
            </a:r>
          </a:p>
          <a:p>
            <a:pPr lvl="2"/>
            <a:r>
              <a:rPr lang="de-DE" noProof="0" dirty="0"/>
              <a:t>Ressourceneinbindung</a:t>
            </a:r>
          </a:p>
          <a:p>
            <a:pPr lvl="2"/>
            <a:r>
              <a:rPr lang="de-DE" noProof="0" dirty="0"/>
              <a:t>Code-Generierung</a:t>
            </a:r>
          </a:p>
          <a:p>
            <a:pPr lvl="2"/>
            <a:r>
              <a:rPr lang="de-DE" noProof="0" dirty="0"/>
              <a:t>Annotation Processing</a:t>
            </a:r>
          </a:p>
          <a:p>
            <a:pPr lvl="1"/>
            <a:r>
              <a:rPr lang="de-DE" noProof="0"/>
              <a:t>Packaging</a:t>
            </a:r>
            <a:endParaRPr lang="de-DE" noProof="0" dirty="0"/>
          </a:p>
          <a:p>
            <a:pPr lvl="2"/>
            <a:r>
              <a:rPr lang="de-DE" noProof="0" dirty="0"/>
              <a:t>Metadaten erstellen</a:t>
            </a:r>
          </a:p>
          <a:p>
            <a:pPr lvl="2"/>
            <a:r>
              <a:rPr lang="de-DE" noProof="0" dirty="0" err="1"/>
              <a:t>Javadocs</a:t>
            </a:r>
            <a:r>
              <a:rPr lang="de-DE" noProof="0" dirty="0"/>
              <a:t>/</a:t>
            </a:r>
            <a:r>
              <a:rPr lang="de-DE" noProof="0" dirty="0" err="1"/>
              <a:t>Sources</a:t>
            </a:r>
            <a:r>
              <a:rPr lang="de-DE" noProof="0" dirty="0"/>
              <a:t> anhängen</a:t>
            </a:r>
          </a:p>
          <a:p>
            <a:pPr lvl="2"/>
            <a:r>
              <a:rPr lang="de-DE" noProof="0" dirty="0"/>
              <a:t>Linking</a:t>
            </a:r>
          </a:p>
          <a:p>
            <a:pPr lvl="1"/>
            <a:r>
              <a:rPr lang="de-DE" noProof="0" dirty="0"/>
              <a:t>Testen</a:t>
            </a:r>
          </a:p>
          <a:p>
            <a:pPr lvl="2"/>
            <a:r>
              <a:rPr lang="de-DE" noProof="0" dirty="0"/>
              <a:t>Modultests</a:t>
            </a:r>
          </a:p>
          <a:p>
            <a:pPr lvl="2"/>
            <a:r>
              <a:rPr lang="de-DE" noProof="0" dirty="0"/>
              <a:t>Integrationstests</a:t>
            </a:r>
          </a:p>
          <a:p>
            <a:pPr lvl="2"/>
            <a:r>
              <a:rPr lang="de-DE" noProof="0" dirty="0" err="1"/>
              <a:t>Reportings</a:t>
            </a:r>
            <a:endParaRPr lang="de-DE" noProof="0" dirty="0"/>
          </a:p>
          <a:p>
            <a:pPr lvl="1"/>
            <a:r>
              <a:rPr lang="de-DE" noProof="0" dirty="0" err="1"/>
              <a:t>Deployment</a:t>
            </a:r>
            <a:endParaRPr lang="de-DE" noProof="0" dirty="0"/>
          </a:p>
          <a:p>
            <a:pPr lvl="2"/>
            <a:r>
              <a:rPr lang="de-DE" noProof="0" dirty="0"/>
              <a:t>Lokationsbestimmung</a:t>
            </a:r>
          </a:p>
          <a:p>
            <a:pPr lvl="2"/>
            <a:r>
              <a:rPr lang="de-DE" noProof="0" dirty="0" err="1"/>
              <a:t>Signing</a:t>
            </a:r>
            <a:endParaRPr lang="de-DE" noProof="0" dirty="0"/>
          </a:p>
          <a:p>
            <a:r>
              <a:rPr lang="de-DE" noProof="0" dirty="0"/>
              <a:t>Individuelle Anpassungen über </a:t>
            </a:r>
            <a:r>
              <a:rPr lang="de-DE" noProof="0" dirty="0" err="1"/>
              <a:t>Plugins</a:t>
            </a:r>
            <a:r>
              <a:rPr lang="de-DE" noProof="0" dirty="0"/>
              <a:t> oder Skripte</a:t>
            </a:r>
          </a:p>
        </p:txBody>
      </p:sp>
    </p:spTree>
    <p:extLst>
      <p:ext uri="{BB962C8B-B14F-4D97-AF65-F5344CB8AC3E}">
        <p14:creationId xmlns:p14="http://schemas.microsoft.com/office/powerpoint/2010/main" val="114137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D722-79E1-4C7A-8B03-A83A08D1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 err="1"/>
              <a:t>Build</a:t>
            </a:r>
            <a:r>
              <a:rPr lang="de-DE" noProof="0" dirty="0"/>
              <a:t>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D412B-F830-4295-8C55-C3F54BCFD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noProof="0" dirty="0" err="1"/>
              <a:t>Maven</a:t>
            </a:r>
            <a:endParaRPr lang="de-DE" b="1" noProof="0" dirty="0"/>
          </a:p>
          <a:p>
            <a:r>
              <a:rPr lang="de-DE" b="1" noProof="0" dirty="0" err="1"/>
              <a:t>Gradle</a:t>
            </a:r>
            <a:endParaRPr lang="de-DE" b="1" noProof="0" dirty="0"/>
          </a:p>
          <a:p>
            <a:r>
              <a:rPr lang="de-DE" b="1" noProof="0" dirty="0" err="1"/>
              <a:t>Ant</a:t>
            </a:r>
            <a:endParaRPr lang="de-DE" b="1" noProof="0" dirty="0"/>
          </a:p>
          <a:p>
            <a:r>
              <a:rPr lang="de-DE" noProof="0" dirty="0" err="1"/>
              <a:t>Bazel</a:t>
            </a:r>
            <a:endParaRPr lang="de-DE" noProof="0" dirty="0"/>
          </a:p>
          <a:p>
            <a:r>
              <a:rPr lang="de-DE" noProof="0" dirty="0" err="1"/>
              <a:t>Grunt</a:t>
            </a:r>
            <a:endParaRPr lang="de-DE" noProof="0" dirty="0"/>
          </a:p>
          <a:p>
            <a:r>
              <a:rPr lang="de-DE" noProof="0" dirty="0" err="1"/>
              <a:t>sbt</a:t>
            </a:r>
            <a:endParaRPr lang="de-DE" noProof="0" dirty="0"/>
          </a:p>
          <a:p>
            <a:r>
              <a:rPr lang="de-DE" noProof="0" dirty="0" err="1"/>
              <a:t>Buildr</a:t>
            </a:r>
            <a:endParaRPr lang="de-DE" noProof="0" dirty="0"/>
          </a:p>
          <a:p>
            <a:r>
              <a:rPr lang="de-DE" noProof="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288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213C-6B92-428A-827F-894C8251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 err="1"/>
              <a:t>Maven</a:t>
            </a:r>
            <a:endParaRPr lang="de-D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60B9E-A718-48D9-A390-3D655CC6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noProof="0" dirty="0"/>
              <a:t>Konvention statt Konfiguration</a:t>
            </a:r>
          </a:p>
          <a:p>
            <a:pPr lvl="1"/>
            <a:r>
              <a:rPr lang="de-DE" noProof="0" dirty="0"/>
              <a:t>Standardisierte </a:t>
            </a:r>
            <a:r>
              <a:rPr lang="de-DE" dirty="0"/>
              <a:t>Projektstruktur</a:t>
            </a:r>
          </a:p>
          <a:p>
            <a:pPr lvl="1"/>
            <a:r>
              <a:rPr lang="de-DE" dirty="0"/>
              <a:t>Standardisierter </a:t>
            </a:r>
            <a:r>
              <a:rPr lang="de-DE" dirty="0" err="1"/>
              <a:t>Build</a:t>
            </a:r>
            <a:r>
              <a:rPr lang="de-DE" dirty="0"/>
              <a:t>-Lebenszyklus</a:t>
            </a:r>
          </a:p>
          <a:p>
            <a:pPr lvl="1"/>
            <a:r>
              <a:rPr lang="de-DE" noProof="0" dirty="0"/>
              <a:t>Archetypen</a:t>
            </a:r>
          </a:p>
          <a:p>
            <a:r>
              <a:rPr lang="de-DE" noProof="0" dirty="0"/>
              <a:t>Zentrale Konfigurationsdatei</a:t>
            </a:r>
          </a:p>
          <a:p>
            <a:pPr lvl="1"/>
            <a:r>
              <a:rPr lang="de-DE" noProof="0" dirty="0"/>
              <a:t>pom.xml</a:t>
            </a:r>
          </a:p>
          <a:p>
            <a:pPr lvl="1"/>
            <a:r>
              <a:rPr lang="de-DE" noProof="0" dirty="0"/>
              <a:t>Pro Modul</a:t>
            </a:r>
          </a:p>
          <a:p>
            <a:r>
              <a:rPr lang="de-DE" noProof="0" dirty="0" err="1"/>
              <a:t>Dependency</a:t>
            </a:r>
            <a:r>
              <a:rPr lang="de-DE" noProof="0" dirty="0"/>
              <a:t> Management</a:t>
            </a:r>
          </a:p>
          <a:p>
            <a:pPr lvl="1"/>
            <a:r>
              <a:rPr lang="de-DE" noProof="0"/>
              <a:t>Klarheit über Bibliothek und Version</a:t>
            </a:r>
            <a:endParaRPr lang="de-DE" noProof="0" dirty="0"/>
          </a:p>
          <a:p>
            <a:pPr lvl="1"/>
            <a:r>
              <a:rPr lang="de-DE" noProof="0" dirty="0"/>
              <a:t>Automatischer Import und Aktualisierung</a:t>
            </a:r>
          </a:p>
          <a:p>
            <a:pPr lvl="1"/>
            <a:r>
              <a:rPr lang="de-DE"/>
              <a:t>Standardquelle: Maven </a:t>
            </a:r>
            <a:r>
              <a:rPr lang="de-DE" dirty="0"/>
              <a:t>Central Repository</a:t>
            </a:r>
          </a:p>
          <a:p>
            <a:pPr lvl="1"/>
            <a:r>
              <a:rPr lang="de-DE" noProof="0" dirty="0"/>
              <a:t>Einbindung alternativer </a:t>
            </a:r>
            <a:r>
              <a:rPr lang="de-DE" noProof="0" dirty="0" err="1"/>
              <a:t>Repositories</a:t>
            </a:r>
            <a:endParaRPr lang="de-DE" noProof="0" dirty="0"/>
          </a:p>
          <a:p>
            <a:r>
              <a:rPr lang="de-DE" dirty="0"/>
              <a:t>Anpassung des </a:t>
            </a:r>
            <a:r>
              <a:rPr lang="de-DE" dirty="0" err="1"/>
              <a:t>Build</a:t>
            </a:r>
            <a:r>
              <a:rPr lang="de-DE" dirty="0"/>
              <a:t>-Prozesses durch </a:t>
            </a:r>
            <a:r>
              <a:rPr lang="de-DE" dirty="0" err="1"/>
              <a:t>Plugins</a:t>
            </a:r>
            <a:endParaRPr lang="de-DE" dirty="0"/>
          </a:p>
          <a:p>
            <a:r>
              <a:rPr lang="de-DE" noProof="0" dirty="0"/>
              <a:t>In viele IDEs integriert</a:t>
            </a:r>
          </a:p>
        </p:txBody>
      </p:sp>
    </p:spTree>
    <p:extLst>
      <p:ext uri="{BB962C8B-B14F-4D97-AF65-F5344CB8AC3E}">
        <p14:creationId xmlns:p14="http://schemas.microsoft.com/office/powerpoint/2010/main" val="312627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4EC9-FA4F-4D21-B662-08DCB2E7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Standard-</a:t>
            </a:r>
            <a:r>
              <a:rPr lang="de-DE" noProof="0" dirty="0" err="1"/>
              <a:t>Build</a:t>
            </a:r>
            <a:r>
              <a:rPr lang="de-DE" noProof="0" dirty="0"/>
              <a:t>-Lebenszyklus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C829A-A95E-4975-B4C3-8BF6EE912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3200" b="1" noProof="0" dirty="0" err="1"/>
              <a:t>Validate</a:t>
            </a:r>
            <a:r>
              <a:rPr lang="de-DE" sz="3200" b="1" noProof="0" dirty="0"/>
              <a:t>	</a:t>
            </a:r>
            <a:r>
              <a:rPr lang="de-DE" sz="3200" noProof="0" dirty="0"/>
              <a:t>–	Prüfung der Projektkonfiguration</a:t>
            </a:r>
          </a:p>
          <a:p>
            <a:pPr marL="0" indent="0">
              <a:buNone/>
            </a:pPr>
            <a:r>
              <a:rPr lang="de-DE" sz="3200" b="1" noProof="0" dirty="0" err="1"/>
              <a:t>Compile</a:t>
            </a:r>
            <a:r>
              <a:rPr lang="de-DE" sz="3200" b="1" noProof="0" dirty="0"/>
              <a:t>	</a:t>
            </a:r>
            <a:r>
              <a:rPr lang="de-DE" sz="3200" noProof="0" dirty="0"/>
              <a:t>–	Kompilierung des Source Code</a:t>
            </a:r>
          </a:p>
          <a:p>
            <a:pPr marL="0" indent="0">
              <a:buNone/>
            </a:pPr>
            <a:r>
              <a:rPr lang="de-DE" sz="3200" b="1" noProof="0" dirty="0"/>
              <a:t>Test		</a:t>
            </a:r>
            <a:r>
              <a:rPr lang="de-DE" sz="3200" noProof="0" dirty="0"/>
              <a:t>–	Ausführen von Unit (!) Tests</a:t>
            </a:r>
          </a:p>
          <a:p>
            <a:pPr marL="0" indent="0">
              <a:buNone/>
            </a:pPr>
            <a:r>
              <a:rPr lang="de-DE" sz="3200" b="1" noProof="0" dirty="0"/>
              <a:t>Package	</a:t>
            </a:r>
            <a:r>
              <a:rPr lang="de-DE" sz="3200" noProof="0" dirty="0"/>
              <a:t>–</a:t>
            </a:r>
            <a:r>
              <a:rPr lang="de-DE" sz="3200" noProof="0"/>
              <a:t>	Artefakterstellung</a:t>
            </a:r>
            <a:endParaRPr lang="de-DE" sz="3200" noProof="0" dirty="0"/>
          </a:p>
          <a:p>
            <a:pPr marL="0" indent="0">
              <a:buNone/>
            </a:pPr>
            <a:r>
              <a:rPr lang="de-DE" sz="3200" b="1" noProof="0" dirty="0" err="1"/>
              <a:t>Verify</a:t>
            </a:r>
            <a:r>
              <a:rPr lang="de-DE" sz="3200" noProof="0" dirty="0"/>
              <a:t> 	–	Ausführen von Integrationstests und Prüfung</a:t>
            </a:r>
          </a:p>
          <a:p>
            <a:pPr marL="0" indent="0">
              <a:buNone/>
            </a:pPr>
            <a:r>
              <a:rPr lang="de-DE" sz="3200" b="1" noProof="0" dirty="0" err="1"/>
              <a:t>Install</a:t>
            </a:r>
            <a:r>
              <a:rPr lang="de-DE" sz="3200" noProof="0" dirty="0"/>
              <a:t> 	–	Installation ins lokale Repository</a:t>
            </a:r>
          </a:p>
          <a:p>
            <a:pPr marL="0" indent="0">
              <a:buNone/>
            </a:pPr>
            <a:r>
              <a:rPr lang="de-DE" sz="3200" b="1" noProof="0" dirty="0" err="1"/>
              <a:t>Deploy</a:t>
            </a:r>
            <a:r>
              <a:rPr lang="de-DE" sz="3200" noProof="0" dirty="0"/>
              <a:t> 	–	Installation ins </a:t>
            </a:r>
            <a:r>
              <a:rPr lang="de-DE" sz="3200" dirty="0" err="1"/>
              <a:t>Remoter</a:t>
            </a:r>
            <a:r>
              <a:rPr lang="de-DE" sz="3200" noProof="0" dirty="0" err="1"/>
              <a:t>epository</a:t>
            </a:r>
            <a:endParaRPr lang="de-DE" sz="3200" noProof="0" dirty="0"/>
          </a:p>
        </p:txBody>
      </p:sp>
    </p:spTree>
    <p:extLst>
      <p:ext uri="{BB962C8B-B14F-4D97-AF65-F5344CB8AC3E}">
        <p14:creationId xmlns:p14="http://schemas.microsoft.com/office/powerpoint/2010/main" val="4293384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FCAA-3464-4894-ACC9-E64842DE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Standardprojektstruktur (reduziert)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B8D21-82D7-460D-A693-769841025A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sz="2400" i="1" noProof="0" dirty="0"/>
              <a:t>Project/</a:t>
            </a:r>
            <a:r>
              <a:rPr lang="de-DE" sz="2400" i="1" noProof="0" dirty="0" err="1"/>
              <a:t>module</a:t>
            </a:r>
            <a:r>
              <a:rPr lang="de-DE" sz="2400" i="1" noProof="0" dirty="0"/>
              <a:t> </a:t>
            </a:r>
            <a:r>
              <a:rPr lang="de-DE" sz="2400" i="1" noProof="0" dirty="0" err="1"/>
              <a:t>root</a:t>
            </a:r>
            <a:endParaRPr lang="de-DE" sz="2400" i="1" noProof="0" dirty="0"/>
          </a:p>
          <a:p>
            <a:pPr lvl="1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noProof="0" dirty="0" err="1"/>
              <a:t>scr</a:t>
            </a:r>
            <a:endParaRPr lang="de-DE" noProof="0" dirty="0"/>
          </a:p>
          <a:p>
            <a:pPr lvl="2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sz="2400" noProof="0" dirty="0" err="1"/>
              <a:t>main</a:t>
            </a:r>
            <a:endParaRPr lang="de-DE" sz="2400" noProof="0" dirty="0"/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sz="2400" noProof="0" dirty="0" err="1"/>
              <a:t>java</a:t>
            </a:r>
            <a:endParaRPr lang="de-DE" sz="2400" noProof="0" dirty="0"/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sz="2400" noProof="0" dirty="0" err="1"/>
              <a:t>resources</a:t>
            </a:r>
            <a:endParaRPr lang="de-DE" sz="2400" noProof="0" dirty="0"/>
          </a:p>
          <a:p>
            <a:pPr lvl="2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sz="2400" noProof="0" dirty="0" err="1"/>
              <a:t>test</a:t>
            </a:r>
            <a:endParaRPr lang="de-DE" sz="2400" noProof="0" dirty="0"/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sz="2400" noProof="0" dirty="0" err="1"/>
              <a:t>java</a:t>
            </a:r>
            <a:endParaRPr lang="de-DE" sz="2400" noProof="0" dirty="0"/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sz="2400" noProof="0" dirty="0" err="1"/>
              <a:t>resources</a:t>
            </a:r>
            <a:endParaRPr lang="de-DE" sz="2400" noProof="0" dirty="0"/>
          </a:p>
          <a:p>
            <a:pPr lvl="1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noProof="0" dirty="0" err="1"/>
              <a:t>target</a:t>
            </a:r>
            <a:endParaRPr lang="de-DE" noProof="0" dirty="0"/>
          </a:p>
          <a:p>
            <a:pPr lvl="1">
              <a:lnSpc>
                <a:spcPct val="100000"/>
              </a:lnSpc>
              <a:buFont typeface="Calibri" panose="020F0502020204030204" pitchFamily="34" charset="0"/>
              <a:buChar char="˫"/>
            </a:pPr>
            <a:r>
              <a:rPr lang="de-DE" noProof="0" dirty="0"/>
              <a:t>pom.xml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DBFB8B-E471-4B3A-A3E5-094086F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9115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sz="2400" i="1" noProof="0" dirty="0">
                <a:solidFill>
                  <a:schemeClr val="tx1">
                    <a:lumMod val="65000"/>
                  </a:schemeClr>
                </a:solidFill>
              </a:rPr>
              <a:t>Projekt-/Modulordner</a:t>
            </a:r>
          </a:p>
          <a:p>
            <a:pPr lvl="1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noProof="0" dirty="0" err="1">
                <a:solidFill>
                  <a:schemeClr val="tx1">
                    <a:lumMod val="65000"/>
                  </a:schemeClr>
                </a:solidFill>
              </a:rPr>
              <a:t>Unkompilierter</a:t>
            </a:r>
            <a:r>
              <a:rPr lang="de-DE" noProof="0" dirty="0">
                <a:solidFill>
                  <a:schemeClr val="tx1">
                    <a:lumMod val="65000"/>
                  </a:schemeClr>
                </a:solidFill>
              </a:rPr>
              <a:t> Quellcode</a:t>
            </a:r>
          </a:p>
          <a:p>
            <a:pPr lvl="2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sz="2400" noProof="0" dirty="0">
                <a:solidFill>
                  <a:schemeClr val="tx1">
                    <a:lumMod val="65000"/>
                  </a:schemeClr>
                </a:solidFill>
              </a:rPr>
              <a:t>Produktivquellcode</a:t>
            </a:r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sz="2400" noProof="0" dirty="0" err="1">
                <a:solidFill>
                  <a:schemeClr val="tx1">
                    <a:lumMod val="65000"/>
                  </a:schemeClr>
                </a:solidFill>
              </a:rPr>
              <a:t>Javacode</a:t>
            </a:r>
            <a:endParaRPr lang="de-DE" sz="2400" noProof="0" dirty="0">
              <a:solidFill>
                <a:schemeClr val="tx1">
                  <a:lumMod val="65000"/>
                </a:schemeClr>
              </a:solidFill>
            </a:endParaRPr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sz="2400" noProof="0" dirty="0">
                <a:solidFill>
                  <a:schemeClr val="tx1">
                    <a:lumMod val="65000"/>
                  </a:schemeClr>
                </a:solidFill>
              </a:rPr>
              <a:t>Ressourcen (I18N, Bilder, …)</a:t>
            </a:r>
          </a:p>
          <a:p>
            <a:pPr lvl="2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sz="2600" noProof="0" dirty="0">
                <a:solidFill>
                  <a:schemeClr val="tx1">
                    <a:lumMod val="65000"/>
                  </a:schemeClr>
                </a:solidFill>
              </a:rPr>
              <a:t>(Unit-)Testquellcode</a:t>
            </a:r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sz="2400" noProof="0" dirty="0">
                <a:solidFill>
                  <a:schemeClr val="tx1">
                    <a:lumMod val="65000"/>
                  </a:schemeClr>
                </a:solidFill>
              </a:rPr>
              <a:t>(Unit-)Testklassen</a:t>
            </a:r>
          </a:p>
          <a:p>
            <a:pPr lvl="3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sz="2400" noProof="0" dirty="0">
                <a:solidFill>
                  <a:schemeClr val="tx1">
                    <a:lumMod val="65000"/>
                  </a:schemeClr>
                </a:solidFill>
              </a:rPr>
              <a:t>(Unit-)Testressourcen</a:t>
            </a:r>
          </a:p>
          <a:p>
            <a:pPr lvl="1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noProof="0" dirty="0">
                <a:solidFill>
                  <a:schemeClr val="tx1">
                    <a:lumMod val="65000"/>
                  </a:schemeClr>
                </a:solidFill>
              </a:rPr>
              <a:t>Kompilierter Code und Artefakte</a:t>
            </a:r>
          </a:p>
          <a:p>
            <a:pPr lvl="1">
              <a:lnSpc>
                <a:spcPct val="100000"/>
              </a:lnSpc>
              <a:buFont typeface="Calibri" panose="020F0502020204030204" pitchFamily="34" charset="0"/>
              <a:buChar char="="/>
            </a:pPr>
            <a:r>
              <a:rPr lang="de-DE" noProof="0" dirty="0">
                <a:solidFill>
                  <a:schemeClr val="tx1">
                    <a:lumMod val="65000"/>
                  </a:schemeClr>
                </a:solidFill>
              </a:rPr>
              <a:t>Konfigurationsdatei</a:t>
            </a:r>
          </a:p>
        </p:txBody>
      </p:sp>
    </p:spTree>
    <p:extLst>
      <p:ext uri="{BB962C8B-B14F-4D97-AF65-F5344CB8AC3E}">
        <p14:creationId xmlns:p14="http://schemas.microsoft.com/office/powerpoint/2010/main" val="198839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213C-6B92-428A-827F-894C8251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Project </a:t>
            </a:r>
            <a:r>
              <a:rPr lang="de-DE" noProof="0" err="1"/>
              <a:t>Object</a:t>
            </a:r>
            <a:r>
              <a:rPr lang="de-DE" noProof="0"/>
              <a:t> Model</a:t>
            </a:r>
            <a:endParaRPr lang="de-D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60B9E-A718-48D9-A390-3D655CC6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noProof="0" dirty="0"/>
              <a:t>Fundamental</a:t>
            </a:r>
          </a:p>
          <a:p>
            <a:r>
              <a:rPr lang="de-DE" noProof="0" dirty="0"/>
              <a:t>XML</a:t>
            </a:r>
            <a:r>
              <a:rPr lang="de-DE" dirty="0"/>
              <a:t>-</a:t>
            </a:r>
            <a:r>
              <a:rPr lang="de-DE" noProof="0" dirty="0"/>
              <a:t>Format</a:t>
            </a:r>
          </a:p>
          <a:p>
            <a:r>
              <a:rPr lang="de-DE" noProof="0" dirty="0"/>
              <a:t>Enthält die gesamte Konfiguration des Projekts bzw. Moduls, u.a.</a:t>
            </a:r>
          </a:p>
          <a:p>
            <a:pPr lvl="1"/>
            <a:r>
              <a:rPr lang="de-DE" dirty="0" err="1"/>
              <a:t>Maven</a:t>
            </a:r>
            <a:r>
              <a:rPr lang="de-DE" noProof="0" dirty="0"/>
              <a:t>-Koordinaten</a:t>
            </a:r>
          </a:p>
          <a:p>
            <a:pPr lvl="1"/>
            <a:r>
              <a:rPr lang="de-DE" noProof="0" dirty="0"/>
              <a:t>Java-Version</a:t>
            </a:r>
          </a:p>
          <a:p>
            <a:pPr lvl="1"/>
            <a:r>
              <a:rPr lang="de-DE" dirty="0" err="1"/>
              <a:t>Repositories</a:t>
            </a:r>
            <a:endParaRPr lang="de-DE" noProof="0" dirty="0"/>
          </a:p>
          <a:p>
            <a:pPr lvl="1"/>
            <a:r>
              <a:rPr lang="de-DE" noProof="0" dirty="0" err="1"/>
              <a:t>Dependencies</a:t>
            </a:r>
            <a:endParaRPr lang="de-DE" dirty="0"/>
          </a:p>
          <a:p>
            <a:pPr lvl="1"/>
            <a:r>
              <a:rPr lang="de-DE" noProof="0" dirty="0" err="1"/>
              <a:t>Build</a:t>
            </a:r>
            <a:r>
              <a:rPr lang="de-DE" noProof="0" dirty="0"/>
              <a:t>-Phasen-Anpassungen (</a:t>
            </a:r>
            <a:r>
              <a:rPr lang="de-DE" noProof="0" dirty="0" err="1"/>
              <a:t>Plugins</a:t>
            </a:r>
            <a:r>
              <a:rPr lang="de-DE" noProof="0" dirty="0"/>
              <a:t>)</a:t>
            </a:r>
          </a:p>
          <a:p>
            <a:r>
              <a:rPr lang="de-DE" noProof="0" dirty="0"/>
              <a:t>Vererbungshierarchie</a:t>
            </a:r>
          </a:p>
          <a:p>
            <a:pPr lvl="1"/>
            <a:r>
              <a:rPr lang="de-DE" dirty="0"/>
              <a:t>Erbt </a:t>
            </a:r>
            <a:r>
              <a:rPr lang="de-DE"/>
              <a:t>von einem Parent-POM oder Super-POM</a:t>
            </a:r>
            <a:endParaRPr lang="de-DE" dirty="0"/>
          </a:p>
          <a:p>
            <a:pPr lvl="1"/>
            <a:r>
              <a:rPr lang="de-DE" noProof="0" dirty="0"/>
              <a:t>Wird an Untermodule vererbt</a:t>
            </a:r>
          </a:p>
        </p:txBody>
      </p:sp>
    </p:spTree>
    <p:extLst>
      <p:ext uri="{BB962C8B-B14F-4D97-AF65-F5344CB8AC3E}">
        <p14:creationId xmlns:p14="http://schemas.microsoft.com/office/powerpoint/2010/main" val="2886736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AE0A-8A97-4B4E-8450-E92E2B10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 err="1"/>
              <a:t>Maven</a:t>
            </a:r>
            <a:r>
              <a:rPr lang="de-DE" noProof="0" dirty="0"/>
              <a:t>-Koordinaten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8C059-330F-423A-9210-24501477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3300" noProof="0" dirty="0"/>
              <a:t>Identifizieren ein Projekt/Module</a:t>
            </a:r>
            <a:endParaRPr lang="de-DE" sz="3300" dirty="0"/>
          </a:p>
          <a:p>
            <a:r>
              <a:rPr lang="de-DE" sz="3300" noProof="0" dirty="0"/>
              <a:t>Gehören in die &lt;</a:t>
            </a:r>
            <a:r>
              <a:rPr lang="de-DE" sz="3300" noProof="0" dirty="0" err="1"/>
              <a:t>project</a:t>
            </a:r>
            <a:r>
              <a:rPr lang="de-DE" sz="3300" noProof="0" dirty="0"/>
              <a:t>&gt;-Sektion</a:t>
            </a:r>
          </a:p>
          <a:p>
            <a:endParaRPr lang="de-DE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de-DE" sz="2500" dirty="0"/>
              <a:t> &lt;</a:t>
            </a:r>
            <a:r>
              <a:rPr lang="de-DE" sz="2500" dirty="0" err="1"/>
              <a:t>project</a:t>
            </a:r>
            <a:r>
              <a:rPr lang="de-DE" sz="2500" dirty="0"/>
              <a:t> […]&gt;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2500" dirty="0"/>
              <a:t>&lt;</a:t>
            </a:r>
            <a:r>
              <a:rPr lang="de-DE" sz="2500" dirty="0" err="1"/>
              <a:t>modelVersion</a:t>
            </a:r>
            <a:r>
              <a:rPr lang="de-DE" sz="2500" dirty="0"/>
              <a:t>&gt;4.0.0&lt;/</a:t>
            </a:r>
            <a:r>
              <a:rPr lang="de-DE" sz="2500" dirty="0" err="1"/>
              <a:t>modelVersion</a:t>
            </a:r>
            <a:r>
              <a:rPr lang="de-DE" sz="2500" dirty="0"/>
              <a:t>&gt;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de-DE" sz="25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2500" dirty="0"/>
              <a:t>&lt;</a:t>
            </a:r>
            <a:r>
              <a:rPr lang="de-DE" sz="2500" dirty="0" err="1"/>
              <a:t>groupId</a:t>
            </a:r>
            <a:r>
              <a:rPr lang="de-DE" sz="2500" dirty="0"/>
              <a:t>&gt;		…	&lt;/</a:t>
            </a:r>
            <a:r>
              <a:rPr lang="de-DE" sz="2500" dirty="0" err="1"/>
              <a:t>groupId</a:t>
            </a:r>
            <a:r>
              <a:rPr lang="de-DE" sz="2500" dirty="0"/>
              <a:t>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2500" dirty="0"/>
              <a:t>&lt;</a:t>
            </a:r>
            <a:r>
              <a:rPr lang="de-DE" sz="2500" dirty="0" err="1"/>
              <a:t>artifactId</a:t>
            </a:r>
            <a:r>
              <a:rPr lang="de-DE" sz="2500" dirty="0"/>
              <a:t>&gt;		…	&lt;/</a:t>
            </a:r>
            <a:r>
              <a:rPr lang="de-DE" sz="2500" dirty="0" err="1"/>
              <a:t>artifactId</a:t>
            </a:r>
            <a:r>
              <a:rPr lang="de-DE" sz="2500" dirty="0"/>
              <a:t>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2500" dirty="0"/>
              <a:t>&lt;</a:t>
            </a:r>
            <a:r>
              <a:rPr lang="de-DE" sz="2500" dirty="0" err="1"/>
              <a:t>version</a:t>
            </a:r>
            <a:r>
              <a:rPr lang="de-DE" sz="2500" dirty="0"/>
              <a:t>&gt;		…	&lt;/</a:t>
            </a:r>
            <a:r>
              <a:rPr lang="de-DE" sz="2500" dirty="0" err="1"/>
              <a:t>version</a:t>
            </a:r>
            <a:r>
              <a:rPr lang="de-DE" sz="2500" dirty="0"/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2500" dirty="0"/>
              <a:t>&lt;/</a:t>
            </a:r>
            <a:r>
              <a:rPr lang="de-DE" sz="2500" dirty="0" err="1"/>
              <a:t>project</a:t>
            </a:r>
            <a:r>
              <a:rPr lang="de-DE" sz="25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457427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AE0A-8A97-4B4E-8450-E92E2B10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 err="1"/>
              <a:t>Dependencies</a:t>
            </a:r>
            <a:endParaRPr lang="de-D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8C059-330F-423A-9210-24501477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noProof="0" dirty="0"/>
              <a:t>Genutzte externe oder interne Bibliotheken</a:t>
            </a:r>
          </a:p>
          <a:p>
            <a:r>
              <a:rPr lang="de-DE" noProof="0" dirty="0"/>
              <a:t>Gehören in die &lt;</a:t>
            </a:r>
            <a:r>
              <a:rPr lang="de-DE" noProof="0" dirty="0" err="1"/>
              <a:t>dependencies</a:t>
            </a:r>
            <a:r>
              <a:rPr lang="de-DE" noProof="0" dirty="0"/>
              <a:t>&gt;-Sektion</a:t>
            </a:r>
          </a:p>
          <a:p>
            <a:r>
              <a:rPr lang="de-DE" noProof="0" dirty="0"/>
              <a:t>Werden aus einem Remote- in das lokale </a:t>
            </a:r>
            <a:r>
              <a:rPr lang="de-DE" noProof="0"/>
              <a:t>Repository heruntergeladen</a:t>
            </a:r>
          </a:p>
          <a:p>
            <a:r>
              <a:rPr lang="de-DE" noProof="0"/>
              <a:t>Werden von dem lokalen Repository ins Programm eingebunden</a:t>
            </a:r>
            <a:endParaRPr lang="de-DE" noProof="0" dirty="0"/>
          </a:p>
          <a:p>
            <a:endParaRPr lang="de-DE" noProof="0" dirty="0"/>
          </a:p>
          <a:p>
            <a:pPr marL="0" indent="0">
              <a:buNone/>
            </a:pPr>
            <a:r>
              <a:rPr lang="de-DE" sz="2400" noProof="0" dirty="0"/>
              <a:t>&lt;</a:t>
            </a:r>
            <a:r>
              <a:rPr lang="de-DE" sz="2400" noProof="0" dirty="0" err="1"/>
              <a:t>dependencies</a:t>
            </a:r>
            <a:r>
              <a:rPr lang="de-DE" sz="2400" noProof="0" dirty="0"/>
              <a:t>&gt;</a:t>
            </a:r>
          </a:p>
          <a:p>
            <a:pPr marL="457200" lvl="1" indent="0">
              <a:buNone/>
            </a:pPr>
            <a:r>
              <a:rPr lang="de-DE" noProof="0" dirty="0"/>
              <a:t>&lt;</a:t>
            </a:r>
            <a:r>
              <a:rPr lang="de-DE" noProof="0" dirty="0" err="1"/>
              <a:t>dependency</a:t>
            </a:r>
            <a:r>
              <a:rPr lang="de-DE" noProof="0" dirty="0"/>
              <a:t>&gt;</a:t>
            </a:r>
          </a:p>
          <a:p>
            <a:pPr marL="914400" lvl="2" indent="0">
              <a:buNone/>
            </a:pPr>
            <a:r>
              <a:rPr lang="de-DE" sz="2400" noProof="0" dirty="0"/>
              <a:t>&lt;</a:t>
            </a:r>
            <a:r>
              <a:rPr lang="de-DE" sz="2400" noProof="0" dirty="0" err="1"/>
              <a:t>groupId</a:t>
            </a:r>
            <a:r>
              <a:rPr lang="de-DE" sz="2400" noProof="0" dirty="0"/>
              <a:t>&gt;	</a:t>
            </a:r>
            <a:r>
              <a:rPr lang="de-DE" sz="2400" i="1" noProof="0" dirty="0"/>
              <a:t>…</a:t>
            </a:r>
            <a:r>
              <a:rPr lang="de-DE" sz="2400" noProof="0" dirty="0"/>
              <a:t>	&lt;/</a:t>
            </a:r>
            <a:r>
              <a:rPr lang="de-DE" sz="2400" noProof="0" dirty="0" err="1"/>
              <a:t>groupId</a:t>
            </a:r>
            <a:r>
              <a:rPr lang="de-DE" sz="2400" noProof="0" dirty="0"/>
              <a:t>&gt;</a:t>
            </a:r>
          </a:p>
          <a:p>
            <a:pPr marL="914400" lvl="2" indent="0">
              <a:buNone/>
            </a:pPr>
            <a:r>
              <a:rPr lang="de-DE" sz="2400" noProof="0" dirty="0"/>
              <a:t>&lt;</a:t>
            </a:r>
            <a:r>
              <a:rPr lang="de-DE" sz="2400" noProof="0" dirty="0" err="1"/>
              <a:t>artifactId</a:t>
            </a:r>
            <a:r>
              <a:rPr lang="de-DE" sz="2400" noProof="0" dirty="0"/>
              <a:t>&gt;	</a:t>
            </a:r>
            <a:r>
              <a:rPr lang="de-DE" sz="2400" i="1" noProof="0" dirty="0"/>
              <a:t>…</a:t>
            </a:r>
            <a:r>
              <a:rPr lang="de-DE" sz="2400" noProof="0" dirty="0"/>
              <a:t>	&lt;/</a:t>
            </a:r>
            <a:r>
              <a:rPr lang="de-DE" sz="2400" noProof="0" dirty="0" err="1"/>
              <a:t>artifactId</a:t>
            </a:r>
            <a:r>
              <a:rPr lang="de-DE" sz="2400" noProof="0" dirty="0"/>
              <a:t>&gt;</a:t>
            </a:r>
          </a:p>
          <a:p>
            <a:pPr marL="914400" lvl="2" indent="0">
              <a:buNone/>
            </a:pPr>
            <a:r>
              <a:rPr lang="de-DE" sz="2400" noProof="0" dirty="0"/>
              <a:t>&lt;</a:t>
            </a:r>
            <a:r>
              <a:rPr lang="de-DE" sz="2400" noProof="0" dirty="0" err="1"/>
              <a:t>version</a:t>
            </a:r>
            <a:r>
              <a:rPr lang="de-DE" sz="2400" noProof="0" dirty="0"/>
              <a:t>&gt;	</a:t>
            </a:r>
            <a:r>
              <a:rPr lang="de-DE" sz="2400" i="1" noProof="0" dirty="0"/>
              <a:t>…</a:t>
            </a:r>
            <a:r>
              <a:rPr lang="de-DE" sz="2400" noProof="0" dirty="0"/>
              <a:t>	&lt;/</a:t>
            </a:r>
            <a:r>
              <a:rPr lang="de-DE" sz="2400" noProof="0" dirty="0" err="1"/>
              <a:t>version</a:t>
            </a:r>
            <a:r>
              <a:rPr lang="de-DE" sz="2400" noProof="0" dirty="0"/>
              <a:t>&gt;</a:t>
            </a:r>
          </a:p>
          <a:p>
            <a:pPr marL="457200" lvl="1" indent="0">
              <a:buNone/>
            </a:pPr>
            <a:r>
              <a:rPr lang="de-DE" noProof="0" dirty="0"/>
              <a:t>&lt;/</a:t>
            </a:r>
            <a:r>
              <a:rPr lang="de-DE" noProof="0" dirty="0" err="1"/>
              <a:t>dependency</a:t>
            </a:r>
            <a:r>
              <a:rPr lang="de-DE" noProof="0" dirty="0"/>
              <a:t>&gt;</a:t>
            </a:r>
          </a:p>
          <a:p>
            <a:pPr marL="0" indent="0">
              <a:buNone/>
            </a:pPr>
            <a:r>
              <a:rPr lang="de-DE" sz="2400" noProof="0" dirty="0"/>
              <a:t>&lt;/</a:t>
            </a:r>
            <a:r>
              <a:rPr lang="de-DE" sz="2400" noProof="0" dirty="0" err="1"/>
              <a:t>dependencies</a:t>
            </a:r>
            <a:r>
              <a:rPr lang="de-DE" sz="2400" noProof="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1617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1542-DE44-4895-94A7-47C8ED7D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 err="1"/>
              <a:t>Build</a:t>
            </a:r>
            <a:r>
              <a:rPr lang="de-DE" noProof="0" dirty="0"/>
              <a:t> </a:t>
            </a:r>
            <a:r>
              <a:rPr lang="de-DE" noProof="0" dirty="0" err="1"/>
              <a:t>Plugins</a:t>
            </a:r>
            <a:endParaRPr lang="de-D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0B4A5-C246-4062-93F4-4259111E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de-DE" sz="6500" noProof="0" dirty="0"/>
              <a:t>Fügen Goals zu einzelnen </a:t>
            </a:r>
            <a:r>
              <a:rPr lang="de-DE" sz="6500" noProof="0" dirty="0" err="1"/>
              <a:t>Phases</a:t>
            </a:r>
            <a:r>
              <a:rPr lang="de-DE" sz="6500" noProof="0" dirty="0"/>
              <a:t> des </a:t>
            </a:r>
            <a:r>
              <a:rPr lang="de-DE" sz="6500" noProof="0" dirty="0" err="1"/>
              <a:t>Build</a:t>
            </a:r>
            <a:r>
              <a:rPr lang="de-DE" sz="6500" dirty="0"/>
              <a:t>-</a:t>
            </a:r>
            <a:r>
              <a:rPr lang="de-DE" sz="6500" dirty="0" err="1"/>
              <a:t>Lebenszykluses</a:t>
            </a:r>
            <a:r>
              <a:rPr lang="de-DE" sz="6500" dirty="0"/>
              <a:t> hinzu</a:t>
            </a:r>
            <a:endParaRPr lang="de-DE" sz="6500" noProof="0" dirty="0"/>
          </a:p>
          <a:p>
            <a:r>
              <a:rPr lang="de-DE" sz="6500" noProof="0" dirty="0"/>
              <a:t>Gehören in die &lt;</a:t>
            </a:r>
            <a:r>
              <a:rPr lang="de-DE" sz="6500" noProof="0" dirty="0" err="1"/>
              <a:t>build</a:t>
            </a:r>
            <a:r>
              <a:rPr lang="de-DE" sz="6500" noProof="0" dirty="0"/>
              <a:t>&gt;-Sektion</a:t>
            </a:r>
          </a:p>
          <a:p>
            <a:r>
              <a:rPr lang="de-DE" sz="6500" noProof="0" dirty="0"/>
              <a:t>Werden aus einem Remote- in das lokale Repository heruntergeladen</a:t>
            </a:r>
          </a:p>
          <a:p>
            <a:pPr marL="0" indent="0">
              <a:buNone/>
            </a:pPr>
            <a:endParaRPr lang="de-DE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de-DE" sz="4000" dirty="0"/>
              <a:t> &lt;</a:t>
            </a:r>
            <a:r>
              <a:rPr lang="de-DE" sz="4000" dirty="0" err="1"/>
              <a:t>build</a:t>
            </a:r>
            <a:r>
              <a:rPr lang="de-DE" sz="4000" dirty="0"/>
              <a:t>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4000" dirty="0"/>
              <a:t>&lt;</a:t>
            </a:r>
            <a:r>
              <a:rPr lang="de-DE" sz="4000" dirty="0" err="1"/>
              <a:t>plugins</a:t>
            </a:r>
            <a:r>
              <a:rPr lang="de-DE" sz="4000" dirty="0"/>
              <a:t>&gt;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de-DE" sz="4000" dirty="0"/>
              <a:t>&lt;</a:t>
            </a:r>
            <a:r>
              <a:rPr lang="de-DE" sz="4000" dirty="0" err="1"/>
              <a:t>plugin</a:t>
            </a:r>
            <a:r>
              <a:rPr lang="de-DE" sz="4000" dirty="0"/>
              <a:t>&gt;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de-DE" sz="4000" dirty="0"/>
              <a:t>&lt;</a:t>
            </a:r>
            <a:r>
              <a:rPr lang="de-DE" sz="4000" dirty="0" err="1"/>
              <a:t>groupId</a:t>
            </a:r>
            <a:r>
              <a:rPr lang="de-DE" sz="4000" dirty="0"/>
              <a:t>&gt;	…	&lt;/</a:t>
            </a:r>
            <a:r>
              <a:rPr lang="de-DE" sz="4000" dirty="0" err="1"/>
              <a:t>groupId</a:t>
            </a:r>
            <a:r>
              <a:rPr lang="de-DE" sz="4000" dirty="0"/>
              <a:t>&gt;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de-DE" sz="4000" dirty="0"/>
              <a:t>&lt;</a:t>
            </a:r>
            <a:r>
              <a:rPr lang="de-DE" sz="4000" dirty="0" err="1"/>
              <a:t>artifactId</a:t>
            </a:r>
            <a:r>
              <a:rPr lang="de-DE" sz="4000" dirty="0"/>
              <a:t>&gt;	…	&lt;/</a:t>
            </a:r>
            <a:r>
              <a:rPr lang="de-DE" sz="4000" dirty="0" err="1"/>
              <a:t>artifactId</a:t>
            </a:r>
            <a:r>
              <a:rPr lang="de-DE" sz="4000" dirty="0"/>
              <a:t>&gt;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de-DE" sz="4000" dirty="0"/>
              <a:t>&lt;</a:t>
            </a:r>
            <a:r>
              <a:rPr lang="de-DE" sz="4000" dirty="0" err="1"/>
              <a:t>version</a:t>
            </a:r>
            <a:r>
              <a:rPr lang="de-DE" sz="4000" dirty="0"/>
              <a:t>&gt;	…	&lt;/</a:t>
            </a:r>
            <a:r>
              <a:rPr lang="de-DE" sz="4000" dirty="0" err="1"/>
              <a:t>version</a:t>
            </a:r>
            <a:r>
              <a:rPr lang="de-DE" sz="4000" dirty="0"/>
              <a:t>&gt;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de-DE" sz="4000" dirty="0"/>
              <a:t>&lt;!-- </a:t>
            </a:r>
            <a:r>
              <a:rPr lang="de-DE" sz="4000" dirty="0" err="1"/>
              <a:t>configuration</a:t>
            </a:r>
            <a:r>
              <a:rPr lang="de-DE" sz="4000" dirty="0"/>
              <a:t> --&gt;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de-DE" sz="4000" dirty="0"/>
              <a:t>&lt;/</a:t>
            </a:r>
            <a:r>
              <a:rPr lang="de-DE" sz="4000" dirty="0" err="1"/>
              <a:t>plugin</a:t>
            </a:r>
            <a:r>
              <a:rPr lang="de-DE" sz="4000" dirty="0"/>
              <a:t>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de-DE" sz="4000" dirty="0"/>
              <a:t>&lt;/</a:t>
            </a:r>
            <a:r>
              <a:rPr lang="de-DE" sz="4000" dirty="0" err="1"/>
              <a:t>plugins</a:t>
            </a:r>
            <a:r>
              <a:rPr lang="de-DE" sz="4000" dirty="0"/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4000" dirty="0"/>
              <a:t>&lt;/</a:t>
            </a:r>
            <a:r>
              <a:rPr lang="de-DE" sz="4000" dirty="0" err="1"/>
              <a:t>build</a:t>
            </a:r>
            <a:r>
              <a:rPr lang="de-DE" sz="4000" dirty="0"/>
              <a:t>&gt;</a:t>
            </a:r>
          </a:p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5362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4CC8-BA10-4FED-83FF-160B0CFED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noProof="0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C4FCD-8321-4746-95FE-C3F5776EDA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noProof="0" dirty="0"/>
              <a:t>Java-FX Applikation</a:t>
            </a:r>
          </a:p>
        </p:txBody>
      </p:sp>
    </p:spTree>
    <p:extLst>
      <p:ext uri="{BB962C8B-B14F-4D97-AF65-F5344CB8AC3E}">
        <p14:creationId xmlns:p14="http://schemas.microsoft.com/office/powerpoint/2010/main" val="2534576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4CC8-BA10-4FED-83FF-160B0CFED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noProof="0" dirty="0"/>
              <a:t>Übung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C4FCD-8321-4746-95FE-C3F5776EDA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>
                <a:hlinkClick r:id="rId3"/>
              </a:rPr>
              <a:t>https://github.com/PatrickATdIT/atdit_2026_exercise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96084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2398-DFF3-9508-6627-C6C3362E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5EA6-DBC3-8097-1BC4-082F1EFD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Hausaufgabe: Selbststudium</a:t>
            </a:r>
            <a:endParaRPr lang="de-D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1FA7D-525E-F14C-0AFD-D26A5FF7A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/>
              <a:t>Bei der Bewertung des Programmierergebnisses wird ein entscheidender Faktor die Einhaltung der sogenannten SOLID-Kriterien sein.</a:t>
            </a:r>
          </a:p>
          <a:p>
            <a:r>
              <a:rPr lang="de-DE" sz="2400" noProof="0"/>
              <a:t>Au</a:t>
            </a:r>
            <a:r>
              <a:rPr lang="de-DE" sz="2400"/>
              <a:t>fgrund der Komplexität des Themas und der begrenzten Vorlesungszeit ist dieses Thema im Selbststudium zu erarbeiten.</a:t>
            </a:r>
          </a:p>
          <a:p>
            <a:r>
              <a:rPr lang="de-DE" sz="2400"/>
              <a:t>Unter folgendem Link finden Sie ein Tutorial, dass die wichtigsten Punkte erklärt, samt Beispielprojekt. Arbeiten Sie das Skript unbedingt durch: </a:t>
            </a:r>
            <a:r>
              <a:rPr lang="de-DE" sz="2400">
                <a:hlinkClick r:id="rId2"/>
              </a:rPr>
              <a:t>https://github.com/PatrickATdIT/AmazingWeatherSentinel</a:t>
            </a:r>
            <a:endParaRPr lang="de-DE" sz="2400"/>
          </a:p>
          <a:p>
            <a:r>
              <a:rPr lang="de-DE" sz="2400" noProof="0"/>
              <a:t>Das Script </a:t>
            </a:r>
            <a:r>
              <a:rPr lang="de-DE" sz="2400"/>
              <a:t>finden Sie im Ordner </a:t>
            </a:r>
            <a:r>
              <a:rPr lang="de-DE" sz="2400">
                <a:hlinkClick r:id="rId3"/>
              </a:rPr>
              <a:t>/doc</a:t>
            </a:r>
            <a:r>
              <a:rPr lang="de-DE" sz="2400"/>
              <a:t>:</a:t>
            </a:r>
            <a:endParaRPr lang="de-DE" sz="2400" noProof="0" dirty="0"/>
          </a:p>
        </p:txBody>
      </p:sp>
    </p:spTree>
    <p:extLst>
      <p:ext uri="{BB962C8B-B14F-4D97-AF65-F5344CB8AC3E}">
        <p14:creationId xmlns:p14="http://schemas.microsoft.com/office/powerpoint/2010/main" val="2937873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Rubber duck outline">
            <a:extLst>
              <a:ext uri="{FF2B5EF4-FFF2-40B4-BE49-F238E27FC236}">
                <a16:creationId xmlns:a16="http://schemas.microsoft.com/office/drawing/2014/main" id="{A1DC7AB9-A8CD-8C8B-1ECB-0B0CE95AA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480" y="885480"/>
            <a:ext cx="5087039" cy="508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4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820F3033455448A19E237BA15264A3" ma:contentTypeVersion="13" ma:contentTypeDescription="Create a new document." ma:contentTypeScope="" ma:versionID="358a244b7d500b56d6272a86eaaf35bd">
  <xsd:schema xmlns:xsd="http://www.w3.org/2001/XMLSchema" xmlns:xs="http://www.w3.org/2001/XMLSchema" xmlns:p="http://schemas.microsoft.com/office/2006/metadata/properties" xmlns:ns3="539b3f7f-e5d7-4bb6-ae0a-be8b7e472059" xmlns:ns4="377f1e07-9c56-47c0-8830-951c6e87014a" targetNamespace="http://schemas.microsoft.com/office/2006/metadata/properties" ma:root="true" ma:fieldsID="915c6a1934ef19b6781485de60450a6d" ns3:_="" ns4:_="">
    <xsd:import namespace="539b3f7f-e5d7-4bb6-ae0a-be8b7e472059"/>
    <xsd:import namespace="377f1e07-9c56-47c0-8830-951c6e87014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3f7f-e5d7-4bb6-ae0a-be8b7e47205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7f1e07-9c56-47c0-8830-951c6e8701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5BB231-16BA-49FB-B071-28B017EB6A4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CB0804F-7557-472A-BF64-A6BE0B1955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67641A-410B-4EF4-93A8-5846288454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3f7f-e5d7-4bb6-ae0a-be8b7e472059"/>
    <ds:schemaRef ds:uri="377f1e07-9c56-47c0-8830-951c6e8701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579</Words>
  <Application>Microsoft Office PowerPoint</Application>
  <PresentationFormat>Widescreen</PresentationFormat>
  <Paragraphs>144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Ausgewählte Themen der IT</vt:lpstr>
      <vt:lpstr>Maven</vt:lpstr>
      <vt:lpstr>Build Tools</vt:lpstr>
      <vt:lpstr>Build Tools</vt:lpstr>
      <vt:lpstr>Maven</vt:lpstr>
      <vt:lpstr>Standard-Build-Lebenszyklus</vt:lpstr>
      <vt:lpstr>Standardprojektstruktur (reduziert)</vt:lpstr>
      <vt:lpstr>Project Object Model</vt:lpstr>
      <vt:lpstr>Maven-Koordinaten</vt:lpstr>
      <vt:lpstr>Dependencies</vt:lpstr>
      <vt:lpstr>Build Plugins</vt:lpstr>
      <vt:lpstr>Demo</vt:lpstr>
      <vt:lpstr>Übung</vt:lpstr>
      <vt:lpstr>Hausaufgabe: Selbststudium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of maintenance</dc:title>
  <dc:creator>Gutgesell, Patrick</dc:creator>
  <cp:lastModifiedBy>Gutgesell, Patrick</cp:lastModifiedBy>
  <cp:revision>36</cp:revision>
  <dcterms:created xsi:type="dcterms:W3CDTF">2020-10-22T05:43:54Z</dcterms:created>
  <dcterms:modified xsi:type="dcterms:W3CDTF">2026-03-16T08:53:34Z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0x01010054820F3033455448A19E237BA15264A3</vt:lpwstr>
  </property>
</Properties>
</file>